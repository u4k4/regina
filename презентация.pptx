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192" autoAdjust="0"/>
  </p:normalViewPr>
  <p:slideViewPr>
    <p:cSldViewPr snapToGrid="0">
      <p:cViewPr varScale="1">
        <p:scale>
          <a:sx n="74" d="100"/>
          <a:sy n="74" d="100"/>
        </p:scale>
        <p:origin x="101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C7D74-5E72-4608-B5DD-251BD23B305F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20A5F-3D6E-4A2B-A525-92B235ABCF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750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20A5F-3D6E-4A2B-A525-92B235ABCF7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701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89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273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278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5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014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52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47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6299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75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15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29191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6424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324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49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428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948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31760-4267-45C9-9C54-A5417DB659C3}" type="datetimeFigureOut">
              <a:rPr lang="ru-RU" smtClean="0"/>
              <a:t>19.10.2026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249B5A6-8B6F-4A9F-95D1-B7B66CB4DF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985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uto.ru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auto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D17C6D4B-1BBF-35CE-FB4D-80EC62AAF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4538" y="162560"/>
            <a:ext cx="10710862" cy="6380480"/>
          </a:xfrm>
        </p:spPr>
        <p:txBody>
          <a:bodyPr>
            <a:normAutofit fontScale="90000"/>
          </a:bodyPr>
          <a:lstStyle/>
          <a:p>
            <a:pPr algn="ctr"/>
            <a:br>
              <a:rPr lang="ru-RU" sz="2000" dirty="0"/>
            </a:br>
            <a:br>
              <a:rPr lang="ru-RU" sz="2000" dirty="0"/>
            </a:br>
            <a:br>
              <a:rPr lang="ru-RU" sz="2000" dirty="0"/>
            </a:br>
            <a:br>
              <a:rPr lang="ru-RU" sz="2000" dirty="0"/>
            </a:br>
            <a:br>
              <a:rPr lang="ru-RU" sz="2000" dirty="0"/>
            </a:br>
            <a:br>
              <a:rPr lang="ru-RU" sz="2000" dirty="0"/>
            </a:br>
            <a:br>
              <a:rPr lang="ru-RU" sz="2000" dirty="0"/>
            </a:br>
            <a:br>
              <a:rPr lang="ru-RU" sz="2000" dirty="0"/>
            </a:br>
            <a:br>
              <a:rPr lang="ru-RU" sz="2000" dirty="0"/>
            </a:br>
            <a:br>
              <a:rPr lang="ru-RU" sz="2000" dirty="0"/>
            </a:b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Автономная некоммерческая организация </a:t>
            </a:r>
            <a:b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Дополнительного профессионального образования </a:t>
            </a:r>
            <a:b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Академия «ТОП» филиал «Академия ТОП Уфа»</a:t>
            </a:r>
            <a:b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Дипломная работа по курсу </a:t>
            </a:r>
            <a:br>
              <a:rPr lang="ru-RU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«Тестирование программного обеспечения»</a:t>
            </a:r>
            <a:br>
              <a:rPr lang="ru-RU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</a:t>
            </a: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«Комплексное тестирование и обеспечение качества высоконагруженного веб-ресурса </a:t>
            </a:r>
            <a:b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примере сайта </a:t>
            </a:r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Auto.ru</a:t>
            </a:r>
            <a:r>
              <a:rPr lang="ru-RU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b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Фаттахова Регина </a:t>
            </a:r>
            <a:r>
              <a:rPr lang="ru-RU" sz="31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Рифовна</a:t>
            </a:r>
            <a:br>
              <a:rPr lang="ru-RU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Уфа, 2026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381910-AB0B-5195-23CB-CE3545E9E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1226606" y="423333"/>
            <a:ext cx="933450" cy="7600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0416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A94DB-0CE4-7835-6605-EBD99BD1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3267"/>
            <a:ext cx="10515600" cy="753533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факторы актуальности темы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46A1A0-0E08-4D03-627B-94A008BA3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838199"/>
            <a:ext cx="11006667" cy="5461001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45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5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нагрузка и масштабируемость </a:t>
            </a:r>
            <a:endParaRPr lang="ru-RU" sz="5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Ежедневный трафик в миллионы пользователей требует непрерывного контроля отказоустойчивости.</a:t>
            </a: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 отдача терабайтов «тяжелого» медиа-контента (фото/видео авто) без потери скорости.</a:t>
            </a:r>
          </a:p>
          <a:p>
            <a:pPr marL="0" lvl="1" indent="0">
              <a:lnSpc>
                <a:spcPct val="120000"/>
              </a:lnSpc>
              <a:spcBef>
                <a:spcPts val="0"/>
              </a:spcBef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5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Сложная экосистема и критические интеграции</a:t>
            </a:r>
            <a:endParaRPr lang="ru-RU" sz="5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со множеством внешних API: ГИБДД, ФНП, банковские кредитные шлюзы, страховые компании (ОСАГО/КАСКО).</a:t>
            </a: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Ошибки в интеграции ломают ключевой платный продукт - «Отчеты Проверок».</a:t>
            </a: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5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пользователей и защита от фрода</a:t>
            </a:r>
            <a:endParaRPr lang="ru-RU" sz="5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Необходимость жесткого тестирования систем модерации для борьбы с перекупщиками и мошенниками.</a:t>
            </a: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персональных данных и бесперебойная работа сервиса подменных номеров.</a:t>
            </a: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endParaRPr lang="ru-RU" sz="5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5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Высокий темп разработки</a:t>
            </a:r>
            <a:endParaRPr lang="ru-RU" sz="5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Ежедневные релизы новых фич в микросервисной архитектуре.</a:t>
            </a:r>
          </a:p>
          <a:p>
            <a:pPr marL="0" lvl="1" indent="228600">
              <a:lnSpc>
                <a:spcPct val="120000"/>
              </a:lnSpc>
              <a:spcBef>
                <a:spcPts val="0"/>
              </a:spcBef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комплексной автоматизации тестирования (UI/API) невозможен быстрый выпуск обновлений без потери стабильности.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836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91F16-97EE-9782-60D5-1411D5F2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рассмотреть комплексный подход к тестированию и обеспечению качества высоконагруженного веб-ресурса на примере автомобильной онлайн-платформы.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E53488-6321-10C1-0AE3-5A87310BC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Определить особенности высоконагруженных веб-сервисов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Систематизировать виды и уровни тестирования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Практический пример тестового набора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тестирования и стек инструментов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4104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75A4D9E-CFF3-23C6-4CBD-36357F82F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133" y="330200"/>
            <a:ext cx="10498667" cy="6172199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5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высоконагруженных веб‑сервисов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ru-RU" sz="4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Большой поток запросов: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должна выдерживать множество одновременных пользователей.</a:t>
            </a: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Масштабируемость: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ресурсы можно быстро наращивать - например, добавлять серверы.</a:t>
            </a: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доступность и отказоустойчивость: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сбой отдельного компонента не должен останавливать весь сервис.</a:t>
            </a: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задержка: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ответы должны оставаться быстрыми даже при пиковых нагрузках.</a:t>
            </a: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Эффективная работа с данными: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кэширование, очереди и асинхронная обработка уменьшают нагрузку на базу данных.</a:t>
            </a:r>
          </a:p>
          <a:p>
            <a:pPr>
              <a:lnSpc>
                <a:spcPts val="3000"/>
              </a:lnSpc>
              <a:spcBef>
                <a:spcPts val="0"/>
              </a:spcBef>
            </a:pPr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и управление нагрузкой: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метрики, логирование, балансировка трафика и защита от перегрузки помогают вовремя обнаруживать проблемы.</a:t>
            </a: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endParaRPr lang="ru-RU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3000"/>
              </a:lnSpc>
              <a:spcBef>
                <a:spcPts val="0"/>
              </a:spcBef>
              <a:buNone/>
            </a:pPr>
            <a:r>
              <a:rPr lang="ru-RU" sz="4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Высоконагруженный сервис </a:t>
            </a:r>
            <a:r>
              <a:rPr lang="ru-RU" sz="33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33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не просто мощный сервер, а система, способная предсказуемо расти и сохранять стабильность под нагрузкой.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616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8726DE9-B9F0-5B45-AB19-0BF15EDEA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737" y="169333"/>
            <a:ext cx="10770129" cy="635846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и уровни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тетирования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сайта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- что именно проверяем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Функциональное</a:t>
            </a:r>
            <a:r>
              <a:rPr 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поиск, фильтры, объявления, аккаунты.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Производительность: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нагрузочное, стрессовое, длительное и масштабируемости.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Надёжность: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доступность, восстановление после сбоев, сохранность данных.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Безопасность: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аккаунты, персональные данные, API.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Совместимость и удобство: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браузеры, мобильные устройства, пользовательские сценарии.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Регрессионное:</a:t>
            </a:r>
            <a:r>
              <a:rPr lang="ru-RU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сломались ли функции после изменений.</a:t>
            </a:r>
          </a:p>
          <a:p>
            <a:pPr marL="0" indent="0" algn="ctr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Уровни - где проверяем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Модульное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отдельные функции и компоненты (расчёт фильтров, валидация объявления)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Интеграционное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взаимодействие компонентов и сервисов (поиск, каталог, авторизация, загрузка фото)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Системное</a:t>
            </a:r>
            <a:r>
              <a:rPr 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 целиком по пользовательским сценариям (найти авто, открыть объявление, связаться с продавцом)</a:t>
            </a:r>
          </a:p>
          <a:p>
            <a:r>
              <a:rPr lang="ru-RU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Приёмочное</a:t>
            </a:r>
            <a:r>
              <a:rPr lang="ru-RU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соответствие требованиям бизнеса и пользователя (удобство публикации объявления, корректность результатов поиск)</a:t>
            </a: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5145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50CBBF-3B24-9565-E099-69CD1ACC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268"/>
            <a:ext cx="10515600" cy="44026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Тест-кейсы</a:t>
            </a: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F1525C12-19CC-5E3B-86D1-F4A413CB2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658806"/>
              </p:ext>
            </p:extLst>
          </p:nvPr>
        </p:nvGraphicFramePr>
        <p:xfrm>
          <a:off x="602673" y="602673"/>
          <a:ext cx="10996659" cy="5815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994">
                  <a:extLst>
                    <a:ext uri="{9D8B030D-6E8A-4147-A177-3AD203B41FA5}">
                      <a16:colId xmlns:a16="http://schemas.microsoft.com/office/drawing/2014/main" val="773279371"/>
                    </a:ext>
                  </a:extLst>
                </a:gridCol>
                <a:gridCol w="1325398">
                  <a:extLst>
                    <a:ext uri="{9D8B030D-6E8A-4147-A177-3AD203B41FA5}">
                      <a16:colId xmlns:a16="http://schemas.microsoft.com/office/drawing/2014/main" val="360427514"/>
                    </a:ext>
                  </a:extLst>
                </a:gridCol>
                <a:gridCol w="1099362">
                  <a:extLst>
                    <a:ext uri="{9D8B030D-6E8A-4147-A177-3AD203B41FA5}">
                      <a16:colId xmlns:a16="http://schemas.microsoft.com/office/drawing/2014/main" val="2895304580"/>
                    </a:ext>
                  </a:extLst>
                </a:gridCol>
                <a:gridCol w="1500063">
                  <a:extLst>
                    <a:ext uri="{9D8B030D-6E8A-4147-A177-3AD203B41FA5}">
                      <a16:colId xmlns:a16="http://schemas.microsoft.com/office/drawing/2014/main" val="628693888"/>
                    </a:ext>
                  </a:extLst>
                </a:gridCol>
                <a:gridCol w="3074201">
                  <a:extLst>
                    <a:ext uri="{9D8B030D-6E8A-4147-A177-3AD203B41FA5}">
                      <a16:colId xmlns:a16="http://schemas.microsoft.com/office/drawing/2014/main" val="995320665"/>
                    </a:ext>
                  </a:extLst>
                </a:gridCol>
                <a:gridCol w="3473641">
                  <a:extLst>
                    <a:ext uri="{9D8B030D-6E8A-4147-A177-3AD203B41FA5}">
                      <a16:colId xmlns:a16="http://schemas.microsoft.com/office/drawing/2014/main" val="1912058664"/>
                    </a:ext>
                  </a:extLst>
                </a:gridCol>
              </a:tblGrid>
              <a:tr h="499814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Приоритет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Предусловия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Шаги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Ожидаемый 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625884"/>
                  </a:ext>
                </a:extLst>
              </a:tr>
              <a:tr h="946586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Поиск авто по марке и модели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Главная страница </a:t>
                      </a:r>
                      <a:r>
                        <a:rPr lang="ru-RU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hlinkClick r:id="rId2"/>
                        </a:rPr>
                        <a:t>Auto.ru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открыта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 Открыть auto.ru. 2. Ввести в поиск «Toyota Camry». 3. Нажать «Найти».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Отображается список объявлений Toyota Camry. Фильтры доступны, пагинация работает, в выдаче нет явно нерелевантных моделей.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4130876"/>
                  </a:ext>
                </a:extLst>
              </a:tr>
              <a:tr h="1147227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Добавление объявления в избранное авторизованным пользователем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Пользователь авторизован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 Открыть карточку автомобиля. 2. Нажать «В избранное». 3. Перейти в раздел избранного.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Объявление добавляется в избранное. Счётчик обновляется. Появляется уведомление. Объявление присутствует в списке избранного.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881332"/>
                  </a:ext>
                </a:extLst>
              </a:tr>
              <a:tr h="1117230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Попытка добавить в избранное без авторизации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Пользователь не авторизован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Открыть карточку автомобиля. 2. Нажать «В избранное».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Появляется модальное окно или предложение войти/зарегистрироваться. Объявление не добавляется в избранное до авторизации.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130207"/>
                  </a:ext>
                </a:extLst>
              </a:tr>
              <a:tr h="946586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Отображение карточки объявления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 поиске есть результаты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 Открыть любую карточку автомобиля. 2. Проверить наличие фото, цены, пробега, года, описания. 3. Прокрутить страницу.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Ключевые поля отображаются. Фотографии загружаются, «битых» изображений нет. При прокрутке вёрстка не ломается.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08595"/>
                  </a:ext>
                </a:extLst>
              </a:tr>
              <a:tr h="1102403"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Кроссбраузерность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Chrome vs Firefox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Доступны 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Chrome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Firefox актуальных версий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 Открыть главную страницу в </a:t>
                      </a:r>
                      <a:r>
                        <a:rPr lang="ru-RU" sz="14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Chrome</a:t>
                      </a:r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2. Открыть ту же страницу в Firefox. 3. Сравнить вёрстку и работу ключевых элементов: поиск, фильтры, карточка.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Вёрстка и функционал работают одинаково. Критических расхождений нет. Кнопки и формы доступны в обоих браузерах.</a:t>
                      </a:r>
                      <a:endParaRPr lang="ru-RU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176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95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D610CA2-A0F2-17FB-E010-A16558077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837" y="71120"/>
            <a:ext cx="11208328" cy="656867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тестирования и стек инструментов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автоматизировать в первую очередь: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Smoke-проверки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Регрессионные сценарии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API-сценарии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Бизнес-правила (стабильные, критичные, повторяемые)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инструментов: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1D3D695-B299-D748-6773-6160AE5EB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085269"/>
              </p:ext>
            </p:extLst>
          </p:nvPr>
        </p:nvGraphicFramePr>
        <p:xfrm>
          <a:off x="613064" y="2992583"/>
          <a:ext cx="11087099" cy="364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415">
                  <a:extLst>
                    <a:ext uri="{9D8B030D-6E8A-4147-A177-3AD203B41FA5}">
                      <a16:colId xmlns:a16="http://schemas.microsoft.com/office/drawing/2014/main" val="2273815932"/>
                    </a:ext>
                  </a:extLst>
                </a:gridCol>
                <a:gridCol w="3390921">
                  <a:extLst>
                    <a:ext uri="{9D8B030D-6E8A-4147-A177-3AD203B41FA5}">
                      <a16:colId xmlns:a16="http://schemas.microsoft.com/office/drawing/2014/main" val="152185733"/>
                    </a:ext>
                  </a:extLst>
                </a:gridCol>
                <a:gridCol w="5070763">
                  <a:extLst>
                    <a:ext uri="{9D8B030D-6E8A-4147-A177-3AD203B41FA5}">
                      <a16:colId xmlns:a16="http://schemas.microsoft.com/office/drawing/2014/main" val="2768520503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Преимущество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729633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Язык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автотестов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Читаемый синтаксис, богатая экосистема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2093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r>
                        <a:rPr lang="en-US" sz="1800" b="1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Pytest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Фреймворк тестирования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Гибкость, параметризация,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фикстуры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592692"/>
                  </a:ext>
                </a:extLst>
              </a:tr>
              <a:tr h="635784"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Playwright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Веб-автоматизация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Стабильность,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автоожидание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асинхронность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6666831"/>
                  </a:ext>
                </a:extLst>
              </a:tr>
              <a:tr h="6357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PyCharm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Среда разработки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Умный редактор, отладка, интеграция с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Git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БД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738529"/>
                  </a:ext>
                </a:extLst>
              </a:tr>
              <a:tr h="6357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Allure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Отчёты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Наглядные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HTML-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отчёты, шаги, скриншоты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827845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GitHub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CI/CD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 версии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Автозапуск тестов, защита веток</a:t>
                      </a:r>
                      <a:endParaRPr lang="ru-RU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4487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62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0F6E2453-F5DA-47BF-03C2-26E6E260D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40" y="142240"/>
            <a:ext cx="10703560" cy="603472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Комплексное тестирование с грамотной автоматизацией и непрерывным анализом рисков, позволяет обеспечить стабильность, производительность и доверие пользователей к высоконагруженному веб-ресурсу.</a:t>
            </a:r>
          </a:p>
          <a:p>
            <a:pPr marL="0" indent="0">
              <a:buNone/>
            </a:pPr>
            <a:r>
              <a:rPr lang="ru-RU" dirty="0"/>
              <a:t> 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sz="4800" i="1" dirty="0"/>
          </a:p>
          <a:p>
            <a:pPr marL="0" indent="0" algn="ctr">
              <a:buNone/>
            </a:pPr>
            <a:endParaRPr lang="ru-RU" sz="4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985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Объект 6" descr="Изображение выглядит как текст, снимок экрана, программное обеспечение, Мультимедийное программное обеспечение">
            <a:extLst>
              <a:ext uri="{FF2B5EF4-FFF2-40B4-BE49-F238E27FC236}">
                <a16:creationId xmlns:a16="http://schemas.microsoft.com/office/drawing/2014/main" id="{C4BA731D-92BF-B4A8-A15C-551F986D1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64" y="131909"/>
            <a:ext cx="10996091" cy="6466317"/>
          </a:xfrm>
        </p:spPr>
      </p:pic>
    </p:spTree>
    <p:extLst>
      <p:ext uri="{BB962C8B-B14F-4D97-AF65-F5344CB8AC3E}">
        <p14:creationId xmlns:p14="http://schemas.microsoft.com/office/powerpoint/2010/main" val="376543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программное обеспечение, Значок на компьютере, Мультимедийное программное обеспечение">
            <a:extLst>
              <a:ext uri="{FF2B5EF4-FFF2-40B4-BE49-F238E27FC236}">
                <a16:creationId xmlns:a16="http://schemas.microsoft.com/office/drawing/2014/main" id="{A50BD020-6E39-E372-6257-BA73C76946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13" y="373035"/>
            <a:ext cx="11407775" cy="5967468"/>
          </a:xfrm>
        </p:spPr>
      </p:pic>
    </p:spTree>
    <p:extLst>
      <p:ext uri="{BB962C8B-B14F-4D97-AF65-F5344CB8AC3E}">
        <p14:creationId xmlns:p14="http://schemas.microsoft.com/office/powerpoint/2010/main" val="1140949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программное обеспечение, Значок на компьютере">
            <a:extLst>
              <a:ext uri="{FF2B5EF4-FFF2-40B4-BE49-F238E27FC236}">
                <a16:creationId xmlns:a16="http://schemas.microsoft.com/office/drawing/2014/main" id="{67902EA3-3F1D-35CB-A76C-6707022B3F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514115"/>
            <a:ext cx="10845800" cy="5726582"/>
          </a:xfrm>
        </p:spPr>
      </p:pic>
    </p:spTree>
    <p:extLst>
      <p:ext uri="{BB962C8B-B14F-4D97-AF65-F5344CB8AC3E}">
        <p14:creationId xmlns:p14="http://schemas.microsoft.com/office/powerpoint/2010/main" val="3168452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программное обеспечение, снимок экрана, Мультимедийное программное обеспечение">
            <a:extLst>
              <a:ext uri="{FF2B5EF4-FFF2-40B4-BE49-F238E27FC236}">
                <a16:creationId xmlns:a16="http://schemas.microsoft.com/office/drawing/2014/main" id="{A35BE025-330A-F86C-418B-E2520C182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76" y="181517"/>
            <a:ext cx="10810369" cy="6385537"/>
          </a:xfrm>
        </p:spPr>
      </p:pic>
    </p:spTree>
    <p:extLst>
      <p:ext uri="{BB962C8B-B14F-4D97-AF65-F5344CB8AC3E}">
        <p14:creationId xmlns:p14="http://schemas.microsoft.com/office/powerpoint/2010/main" val="260701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 descr="Изображение выглядит как текст, снимок экрана, программное обеспечение, компьютер">
            <a:extLst>
              <a:ext uri="{FF2B5EF4-FFF2-40B4-BE49-F238E27FC236}">
                <a16:creationId xmlns:a16="http://schemas.microsoft.com/office/drawing/2014/main" id="{921B3D2B-0CCC-FB2C-4BB1-F2D97AE2D8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045" y="217488"/>
            <a:ext cx="9829800" cy="6411912"/>
          </a:xfrm>
        </p:spPr>
      </p:pic>
    </p:spTree>
    <p:extLst>
      <p:ext uri="{BB962C8B-B14F-4D97-AF65-F5344CB8AC3E}">
        <p14:creationId xmlns:p14="http://schemas.microsoft.com/office/powerpoint/2010/main" val="119324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B609B13-31E4-5A88-FF7D-F04B3BBA3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17173"/>
            <a:ext cx="8596668" cy="37241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5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3565803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505</TotalTime>
  <Words>876</Words>
  <Application>Microsoft Office PowerPoint</Application>
  <PresentationFormat>Широкоэкранный</PresentationFormat>
  <Paragraphs>119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Aptos</vt:lpstr>
      <vt:lpstr>Arial</vt:lpstr>
      <vt:lpstr>Times New Roman</vt:lpstr>
      <vt:lpstr>Trebuchet MS</vt:lpstr>
      <vt:lpstr>Wingdings 3</vt:lpstr>
      <vt:lpstr>Аспект</vt:lpstr>
      <vt:lpstr>          Автономная некоммерческая организация  Дополнительного профессионального образования  Компьютерная Академия «ТОП» филиал «Академия ТОП Уфа» Дипломная работа по курсу  «Тестирование программного обеспечения» на тему:  «Комплексное тестирование и обеспечение качества высоконагруженного веб-ресурса  на примере сайта Auto.ru»  Выполнила: Фаттахова Регина Рифовна Уфа, 2026</vt:lpstr>
      <vt:lpstr>Ключевые факторы актуальности темы</vt:lpstr>
      <vt:lpstr>Цель: рассмотреть комплексный подход к тестированию и обеспечению качества высоконагруженного веб-ресурса на примере автомобильной онлайн-платформы.</vt:lpstr>
      <vt:lpstr>Презентация PowerPoint</vt:lpstr>
      <vt:lpstr>Презентация PowerPoint</vt:lpstr>
      <vt:lpstr>Тест-кейсы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Home_pc</dc:creator>
  <cp:lastModifiedBy>Home_pc</cp:lastModifiedBy>
  <cp:revision>22</cp:revision>
  <dcterms:created xsi:type="dcterms:W3CDTF">2026-10-18T14:04:50Z</dcterms:created>
  <dcterms:modified xsi:type="dcterms:W3CDTF">2026-10-19T00:12:23Z</dcterms:modified>
</cp:coreProperties>
</file>